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2926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REAL-TIME AIR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2C39A"/>
                </a:solidFill>
              </a:rPr>
              <a:t>MONITORING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D4EC"/>
                </a:solidFill>
              </a:rPr>
              <a:t>AI-Powered AQI Prediction &amp; Personalised Health Advisory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54864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D4EC"/>
                </a:solidFill>
              </a:rPr>
              <a:t>Dataset: CPCB / Kaggle  |  Algorithms: Random Forest + KMeans + PCA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B8CC"/>
                </a:solidFill>
              </a:rPr>
              <a:t>Python 3.10  •  scikit-learn  •  pandas  •  seaborn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5120640"/>
            <a:ext cx="1371600" cy="365760"/>
          </a:xfrm>
          <a:prstGeom prst="ellipse">
            <a:avLst/>
          </a:prstGeom>
          <a:solidFill>
            <a:srgbClr val="00E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51480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Good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0" y="5120640"/>
            <a:ext cx="1371600" cy="36576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51480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</a:rPr>
              <a:t>Moderate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5669279"/>
            <a:ext cx="1371600" cy="365760"/>
          </a:xfrm>
          <a:prstGeom prst="ellipse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5696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Poor</a:t>
            </a:r>
          </a:p>
        </p:txBody>
      </p:sp>
      <p:sp>
        <p:nvSpPr>
          <p:cNvPr id="17" name="Oval 16"/>
          <p:cNvSpPr/>
          <p:nvPr/>
        </p:nvSpPr>
        <p:spPr>
          <a:xfrm>
            <a:off x="10332720" y="5669279"/>
            <a:ext cx="1371600" cy="365760"/>
          </a:xfrm>
          <a:prstGeom prst="ellipse">
            <a:avLst/>
          </a:prstGeom>
          <a:solidFill>
            <a:srgbClr val="7E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5696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Severe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64008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🌍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0876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Air pollution causes 7M premature deaths/year (WHO)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India has 14 of world's 20 most polluted cities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Real-time AQI data is complex — citizens need actionable advice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749039"/>
            <a:ext cx="64008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7947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🎯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69079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Build an AI agent that ingests sensor readings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Predict AQI using Random Forest model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Generate personalised health advisories (CPCB + WHO)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Visualise pollution trends for policy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64008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📡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08760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Hospital admission pre-warning systems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School &amp; outdoor event management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Smart city dashboards and mobile alerts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Government policy evaluation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64008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7947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📊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69079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Source: CPCB / Kaggle city_day.csv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10 Indian cities, 2015–2023 (5 000+ records)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12 pollutants: PM2.5, PM10, NO₂, SO₂, O₃, CO…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CPCB AQI breakpoints applied for labelling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Description &amp; 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73736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
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CPCB city_day.csv
10 cities, 12 pollutants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828800"/>
            <a:ext cx="13716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0279" y="1280160"/>
            <a:ext cx="1737360" cy="1371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5999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
Impute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5999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Median imputation
by city group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59" y="1828800"/>
            <a:ext cx="13716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173736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
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IQR Winsorization
outlier capping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13716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199" y="1280160"/>
            <a:ext cx="1737360" cy="1371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19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
Encode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19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LabelEncoder for
City &amp; Season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1828800"/>
            <a:ext cx="13716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280160"/>
            <a:ext cx="1737360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
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StandardScaler
zero mean, unit 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1828800"/>
            <a:ext cx="13716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04120" y="1280160"/>
            <a:ext cx="173736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325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
Feature
Eng.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Ratios, rolling stats
cyclical encoding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91840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Total 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</a:rPr>
              <a:t>5 000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Missing Values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</a:rPr>
              <a:t>~8% (imputed)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49039"/>
            <a:ext cx="11430000" cy="4572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767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Cities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3767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767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Date Range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767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</a:rPr>
              <a:t>2015 – 2023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206240"/>
            <a:ext cx="11430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224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Pollutant Cols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4224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224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AQI Categories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224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</a:rPr>
              <a:t>6 (CPCB)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663440"/>
            <a:ext cx="11430000" cy="4572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681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Train / 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0" y="4681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</a:rPr>
              <a:t>80% / 20%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4681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Target (Regr.)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681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7293"/>
                </a:solidFill>
              </a:rPr>
              <a:t>AQI_Official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Architecture, Working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01168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920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📥 Input
12 Pollutants
+ Temporal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188720"/>
            <a:ext cx="201168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261872"/>
            <a:ext cx="1920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⚙️ Feature
Engineering
26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188720"/>
            <a:ext cx="201168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261872"/>
            <a:ext cx="1920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🌲 Random Forest
n_estimators=200
max_depth=15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188720"/>
            <a:ext cx="2011680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1261872"/>
            <a:ext cx="19202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📊 AQI Output
Numeric + Category
(6 classes)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560320"/>
            <a:ext cx="201168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63347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🔵 KMeans (K=5)
+ PCA (10 PCs)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2560320"/>
            <a:ext cx="201168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263347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🗂️ Clusters
Pollution Groups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1691640"/>
            <a:ext cx="3657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86200" y="1691640"/>
            <a:ext cx="3657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691640"/>
            <a:ext cx="3657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880360"/>
            <a:ext cx="3657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2651760" cy="1463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40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~8.3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526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Regression MAE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B8CC"/>
                </a:solidFill>
              </a:rPr>
              <a:t>AQI units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749039"/>
            <a:ext cx="2651760" cy="1463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840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0.97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526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Regression R²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B8CC"/>
                </a:solidFill>
              </a:rPr>
              <a:t>Variance explained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749039"/>
            <a:ext cx="2651760" cy="1463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840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0.93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526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Classifier 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B8CC"/>
                </a:solidFill>
              </a:rPr>
              <a:t>Macro average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3749039"/>
            <a:ext cx="2651760" cy="1463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840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≥80%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526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PCA Variance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B8CC"/>
                </a:solidFill>
              </a:rPr>
              <a:t>in 4 components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303520"/>
            <a:ext cx="114300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5303520"/>
            <a:ext cx="64008" cy="1280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How It Works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The Random Forest builds 200 decision trees, each trained on a random subset of data and features (bagging). Predictions are averaged (regression) or majority-voted (classification). This reduces overfitting and handles non-linear pollutant interactions. KMeans clustering on PCA components identifies natural pollution groupings without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Results, Interpretation &amp; Health Advisory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7724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AQI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1887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Advisory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7772400" cy="438912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1600200"/>
            <a:ext cx="1645920" cy="320040"/>
          </a:xfrm>
          <a:prstGeom prst="ellipse">
            <a:avLst/>
          </a:prstGeom>
          <a:solidFill>
            <a:srgbClr val="00E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609344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60934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0–50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0934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Enjoy outdoor activities freely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11680"/>
            <a:ext cx="7772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0040" y="2057400"/>
            <a:ext cx="1645920" cy="32004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066544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Satisfactory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06654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51–100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06654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Sensitive groups limit exertion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68880"/>
            <a:ext cx="7772400" cy="438912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0040" y="2514600"/>
            <a:ext cx="1645920" cy="32004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523744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Moderate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52374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101–200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52374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Wear mask; reduce outdoor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26080"/>
            <a:ext cx="7772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0040" y="2971800"/>
            <a:ext cx="1645920" cy="320040"/>
          </a:xfrm>
          <a:prstGeom prst="ellipse">
            <a:avLst/>
          </a:prstGeom>
          <a:solidFill>
            <a:srgbClr val="FF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980944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98094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201–300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98094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Avoid outdoor activity; N95 mask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83280"/>
            <a:ext cx="7772400" cy="438912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0040" y="3429000"/>
            <a:ext cx="1645920" cy="3200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438144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Very Poor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43814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301–400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43814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Stay indoors; keep windows closed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840480"/>
            <a:ext cx="7772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0040" y="3886200"/>
            <a:ext cx="1645920" cy="320040"/>
          </a:xfrm>
          <a:prstGeom prst="ellipse">
            <a:avLst/>
          </a:prstGeom>
          <a:solidFill>
            <a:srgbClr val="7E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895344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Severe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9534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401–500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89534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🚨 Health Emergency — call doctor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1143000"/>
            <a:ext cx="35661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1143000"/>
            <a:ext cx="64008" cy="5394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Key Visualisations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5A82"/>
                </a:solidFill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1691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City AQI Bar Chart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1965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Ranks cities by avg AQI with std dev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48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5A82"/>
                </a:solidFill>
              </a:rPr>
              <a:t>🗓️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24871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Monthly Heatmap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27614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City × Month AQI matrix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2826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5A82"/>
                </a:solidFill>
              </a:rPr>
              <a:t>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32826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Time Series Trend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3557015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30-day rolling mean per city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0782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5A82"/>
                </a:solidFill>
              </a:rPr>
              <a:t>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4078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KMeans Clusters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43525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PCA scatter coloured by cluster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873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5A82"/>
                </a:solidFill>
              </a:rPr>
              <a:t>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4873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Advisory Pie Chart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51480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% days per health advisory level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669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5A82"/>
                </a:solidFill>
              </a:rPr>
              <a:t>🌡️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56692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Violin Plots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23960" y="594359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Full distribution of each pollutant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Ethical Considerations &amp; Societal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21945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64008" cy="2194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07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⚖️ Data Bias &amp; Fairness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CE4F4"/>
                </a:solidFill>
              </a:defRPr>
            </a:pPr>
            <a:r>
              <a:t>▸ Stations concentrated in urban centres — rural areas under-represented</a:t>
            </a:r>
          </a:p>
          <a:p>
            <a:pPr>
              <a:defRPr sz="1050">
                <a:solidFill>
                  <a:srgbClr val="CCE4F4"/>
                </a:solidFill>
              </a:defRPr>
            </a:pPr>
            <a:r>
              <a:t>▸ Marginalised communities near industrial zones need targeted advisories</a:t>
            </a:r>
          </a:p>
          <a:p>
            <a:pPr>
              <a:defRPr sz="1050">
                <a:solidFill>
                  <a:srgbClr val="CCE4F4"/>
                </a:solidFill>
              </a:defRPr>
            </a:pPr>
            <a:r>
              <a:t>▸ Class imbalance handled via class_weight='balanced' in classifier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577840" cy="21945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64008" cy="2194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07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🔒 Privacy &amp; 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CE4F4"/>
                </a:solidFill>
              </a:defRPr>
            </a:pPr>
            <a:r>
              <a:t>▸ Real-time deployment must apply data minimisation principles</a:t>
            </a:r>
          </a:p>
          <a:p>
            <a:pPr>
              <a:defRPr sz="1050">
                <a:solidFill>
                  <a:srgbClr val="CCE4F4"/>
                </a:solidFill>
              </a:defRPr>
            </a:pPr>
            <a:r>
              <a:t>▸ Random Forest partially interpretable via feature importances</a:t>
            </a:r>
          </a:p>
          <a:p>
            <a:pPr>
              <a:defRPr sz="1050">
                <a:solidFill>
                  <a:srgbClr val="CCE4F4"/>
                </a:solidFill>
              </a:defRPr>
            </a:pPr>
            <a:r>
              <a:t>▸ SHAP values recommended for instance-level explanations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577840" cy="21945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64008" cy="2194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730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🌱 Societal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1148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CE4F4"/>
                </a:solidFill>
              </a:defRPr>
            </a:pPr>
            <a:r>
              <a:t>▸ Prevents millions of avoidable hospital admissions annually</a:t>
            </a:r>
          </a:p>
          <a:p>
            <a:pPr>
              <a:defRPr sz="1050">
                <a:solidFill>
                  <a:srgbClr val="CCE4F4"/>
                </a:solidFill>
              </a:defRPr>
            </a:pPr>
            <a:r>
              <a:t>▸ Supports SDG-3 (Good Health) and SDG-11 (Sustainable Cities)</a:t>
            </a:r>
          </a:p>
          <a:p>
            <a:pPr>
              <a:defRPr sz="1050">
                <a:solidFill>
                  <a:srgbClr val="CCE4F4"/>
                </a:solidFill>
              </a:defRPr>
            </a:pPr>
            <a:r>
              <a:t>▸ Integrates with school closures and emergency management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577840" cy="2194560"/>
          </a:xfrm>
          <a:prstGeom prst="rect">
            <a:avLst/>
          </a:prstGeom>
          <a:solidFill>
            <a:srgbClr val="0C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64008" cy="2194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730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🚀 Future Directions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148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CE4F4"/>
                </a:solidFill>
              </a:defRPr>
            </a:pPr>
            <a:r>
              <a:t>▸ Integrate real-time CPCB API + weather data feeds</a:t>
            </a:r>
          </a:p>
          <a:p>
            <a:pPr>
              <a:defRPr sz="1050">
                <a:solidFill>
                  <a:srgbClr val="CCE4F4"/>
                </a:solidFill>
              </a:defRPr>
            </a:pPr>
            <a:r>
              <a:t>▸ Deploy as mobile app with push-notification alerts</a:t>
            </a:r>
          </a:p>
          <a:p>
            <a:pPr>
              <a:defRPr sz="1050">
                <a:solidFill>
                  <a:srgbClr val="CCE4F4"/>
                </a:solidFill>
              </a:defRPr>
            </a:pPr>
            <a:r>
              <a:t>▸ Add LSTM model for 24-hour ahead AQI forecasting</a:t>
            </a:r>
          </a:p>
          <a:p>
            <a:pPr>
              <a:defRPr sz="1050">
                <a:solidFill>
                  <a:srgbClr val="CCE4F4"/>
                </a:solidFill>
              </a:defRPr>
            </a:pPr>
            <a:r>
              <a:t>▸ Expand to 100+ cities with satellite-derived PM2.5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2453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5A82"/>
                </a:solidFill>
              </a:rPr>
              <a:t>This AI agent demonstrates how machine learning can translate complex sensor data into clear, actionable health guidance — improving lives and supporting evidence-based environmental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